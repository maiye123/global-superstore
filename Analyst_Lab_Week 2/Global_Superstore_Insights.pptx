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6F99E4-972F-4929-B6D5-7394B320C9FA}" v="21" dt="2026-08-16T15:23:47.7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62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uwakemi Olorunmaiye" userId="48ce7269-5029-43a4-a2c5-d2ad42c0a312" providerId="ADAL" clId="{0A5CBCFC-5159-4AD8-A1DE-181EE488E7FA}"/>
    <pc:docChg chg="undo redo custSel modSld sldOrd">
      <pc:chgData name="Oluwakemi Olorunmaiye" userId="48ce7269-5029-43a4-a2c5-d2ad42c0a312" providerId="ADAL" clId="{0A5CBCFC-5159-4AD8-A1DE-181EE488E7FA}" dt="2026-08-16T15:24:19.924" v="136" actId="20577"/>
      <pc:docMkLst>
        <pc:docMk/>
      </pc:docMkLst>
      <pc:sldChg chg="addSp delSp modSp mod">
        <pc:chgData name="Oluwakemi Olorunmaiye" userId="48ce7269-5029-43a4-a2c5-d2ad42c0a312" providerId="ADAL" clId="{0A5CBCFC-5159-4AD8-A1DE-181EE488E7FA}" dt="2026-08-16T13:24:35.279" v="15" actId="14100"/>
        <pc:sldMkLst>
          <pc:docMk/>
          <pc:sldMk cId="0" sldId="257"/>
        </pc:sldMkLst>
        <pc:spChg chg="mod">
          <ac:chgData name="Oluwakemi Olorunmaiye" userId="48ce7269-5029-43a4-a2c5-d2ad42c0a312" providerId="ADAL" clId="{0A5CBCFC-5159-4AD8-A1DE-181EE488E7FA}" dt="2026-08-16T13:24:23.723" v="12" actId="1076"/>
          <ac:spMkLst>
            <pc:docMk/>
            <pc:sldMk cId="0" sldId="257"/>
            <ac:spMk id="19" creationId="{00000000-0000-0000-0000-000000000000}"/>
          </ac:spMkLst>
        </pc:spChg>
        <pc:picChg chg="add del mod">
          <ac:chgData name="Oluwakemi Olorunmaiye" userId="48ce7269-5029-43a4-a2c5-d2ad42c0a312" providerId="ADAL" clId="{0A5CBCFC-5159-4AD8-A1DE-181EE488E7FA}" dt="2026-08-16T13:23:51.302" v="4" actId="478"/>
          <ac:picMkLst>
            <pc:docMk/>
            <pc:sldMk cId="0" sldId="257"/>
            <ac:picMk id="24" creationId="{C474C8DA-7875-0651-9FE5-42BFE39C7D7E}"/>
          </ac:picMkLst>
        </pc:picChg>
        <pc:picChg chg="add mod">
          <ac:chgData name="Oluwakemi Olorunmaiye" userId="48ce7269-5029-43a4-a2c5-d2ad42c0a312" providerId="ADAL" clId="{0A5CBCFC-5159-4AD8-A1DE-181EE488E7FA}" dt="2026-08-16T13:24:35.279" v="15" actId="14100"/>
          <ac:picMkLst>
            <pc:docMk/>
            <pc:sldMk cId="0" sldId="257"/>
            <ac:picMk id="26" creationId="{5787E9DA-3F45-C114-FCD1-56664F267A24}"/>
          </ac:picMkLst>
        </pc:picChg>
      </pc:sldChg>
      <pc:sldChg chg="modSp mod">
        <pc:chgData name="Oluwakemi Olorunmaiye" userId="48ce7269-5029-43a4-a2c5-d2ad42c0a312" providerId="ADAL" clId="{0A5CBCFC-5159-4AD8-A1DE-181EE488E7FA}" dt="2026-08-16T14:58:36.816" v="48" actId="255"/>
        <pc:sldMkLst>
          <pc:docMk/>
          <pc:sldMk cId="0" sldId="258"/>
        </pc:sldMkLst>
        <pc:spChg chg="mod">
          <ac:chgData name="Oluwakemi Olorunmaiye" userId="48ce7269-5029-43a4-a2c5-d2ad42c0a312" providerId="ADAL" clId="{0A5CBCFC-5159-4AD8-A1DE-181EE488E7FA}" dt="2026-08-16T14:49:54.153" v="20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4:51:58.574" v="29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4:51:48.925" v="22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4:57:52.694" v="46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4:58:36.816" v="48" actId="255"/>
          <ac:spMkLst>
            <pc:docMk/>
            <pc:sldMk cId="0" sldId="258"/>
            <ac:spMk id="24" creationId="{00000000-0000-0000-0000-000000000000}"/>
          </ac:spMkLst>
        </pc:spChg>
      </pc:sldChg>
      <pc:sldChg chg="modSp mod ord">
        <pc:chgData name="Oluwakemi Olorunmaiye" userId="48ce7269-5029-43a4-a2c5-d2ad42c0a312" providerId="ADAL" clId="{0A5CBCFC-5159-4AD8-A1DE-181EE488E7FA}" dt="2026-08-16T15:09:00.849" v="58" actId="1076"/>
        <pc:sldMkLst>
          <pc:docMk/>
          <pc:sldMk cId="0" sldId="259"/>
        </pc:sldMkLst>
        <pc:spChg chg="mod">
          <ac:chgData name="Oluwakemi Olorunmaiye" userId="48ce7269-5029-43a4-a2c5-d2ad42c0a312" providerId="ADAL" clId="{0A5CBCFC-5159-4AD8-A1DE-181EE488E7FA}" dt="2026-08-16T15:07:24.814" v="50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08:56.834" v="57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08:25.517" v="54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09:00.849" v="58" actId="1076"/>
          <ac:spMkLst>
            <pc:docMk/>
            <pc:sldMk cId="0" sldId="259"/>
            <ac:spMk id="16" creationId="{00000000-0000-0000-0000-000000000000}"/>
          </ac:spMkLst>
        </pc:spChg>
      </pc:sldChg>
      <pc:sldChg chg="modSp mod">
        <pc:chgData name="Oluwakemi Olorunmaiye" userId="48ce7269-5029-43a4-a2c5-d2ad42c0a312" providerId="ADAL" clId="{0A5CBCFC-5159-4AD8-A1DE-181EE488E7FA}" dt="2026-08-16T15:23:52.675" v="129" actId="113"/>
        <pc:sldMkLst>
          <pc:docMk/>
          <pc:sldMk cId="0" sldId="260"/>
        </pc:sldMkLst>
        <pc:spChg chg="mod">
          <ac:chgData name="Oluwakemi Olorunmaiye" userId="48ce7269-5029-43a4-a2c5-d2ad42c0a312" providerId="ADAL" clId="{0A5CBCFC-5159-4AD8-A1DE-181EE488E7FA}" dt="2026-08-16T15:09:59.610" v="74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11:22.697" v="79" actId="207"/>
          <ac:spMkLst>
            <pc:docMk/>
            <pc:sldMk cId="0" sldId="260"/>
            <ac:spMk id="8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12:17.526" v="85" actId="113"/>
          <ac:spMkLst>
            <pc:docMk/>
            <pc:sldMk cId="0" sldId="260"/>
            <ac:spMk id="15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12:31.229" v="8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13:25.604" v="93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23:52.675" v="129" actId="113"/>
          <ac:spMkLst>
            <pc:docMk/>
            <pc:sldMk cId="0" sldId="260"/>
            <ac:spMk id="24" creationId="{00000000-0000-0000-0000-000000000000}"/>
          </ac:spMkLst>
        </pc:spChg>
      </pc:sldChg>
      <pc:sldChg chg="modSp mod">
        <pc:chgData name="Oluwakemi Olorunmaiye" userId="48ce7269-5029-43a4-a2c5-d2ad42c0a312" providerId="ADAL" clId="{0A5CBCFC-5159-4AD8-A1DE-181EE488E7FA}" dt="2026-08-16T15:24:19.924" v="136" actId="20577"/>
        <pc:sldMkLst>
          <pc:docMk/>
          <pc:sldMk cId="0" sldId="261"/>
        </pc:sldMkLst>
        <pc:spChg chg="mod">
          <ac:chgData name="Oluwakemi Olorunmaiye" userId="48ce7269-5029-43a4-a2c5-d2ad42c0a312" providerId="ADAL" clId="{0A5CBCFC-5159-4AD8-A1DE-181EE488E7FA}" dt="2026-08-16T15:16:02.787" v="103" actId="113"/>
          <ac:spMkLst>
            <pc:docMk/>
            <pc:sldMk cId="0" sldId="261"/>
            <ac:spMk id="8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24:19.924" v="136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17:28.511" v="107" actId="113"/>
          <ac:spMkLst>
            <pc:docMk/>
            <pc:sldMk cId="0" sldId="261"/>
            <ac:spMk id="23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17:50.923" v="110" actId="113"/>
          <ac:spMkLst>
            <pc:docMk/>
            <pc:sldMk cId="0" sldId="261"/>
            <ac:spMk id="24" creationId="{00000000-0000-0000-0000-000000000000}"/>
          </ac:spMkLst>
        </pc:spChg>
      </pc:sldChg>
      <pc:sldChg chg="modSp mod">
        <pc:chgData name="Oluwakemi Olorunmaiye" userId="48ce7269-5029-43a4-a2c5-d2ad42c0a312" providerId="ADAL" clId="{0A5CBCFC-5159-4AD8-A1DE-181EE488E7FA}" dt="2026-08-16T15:23:22.800" v="125" actId="255"/>
        <pc:sldMkLst>
          <pc:docMk/>
          <pc:sldMk cId="0" sldId="262"/>
        </pc:sldMkLst>
        <pc:spChg chg="mod">
          <ac:chgData name="Oluwakemi Olorunmaiye" userId="48ce7269-5029-43a4-a2c5-d2ad42c0a312" providerId="ADAL" clId="{0A5CBCFC-5159-4AD8-A1DE-181EE488E7FA}" dt="2026-08-16T15:19:06.554" v="114" actId="113"/>
          <ac:spMkLst>
            <pc:docMk/>
            <pc:sldMk cId="0" sldId="262"/>
            <ac:spMk id="7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23:22.800" v="125" actId="255"/>
          <ac:spMkLst>
            <pc:docMk/>
            <pc:sldMk cId="0" sldId="262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39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C62709-B0AC-507A-89A2-F9358E54771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922963" y="635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G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Shape 2"/>
          <p:cNvSpPr/>
          <p:nvPr/>
        </p:nvSpPr>
        <p:spPr>
          <a:xfrm>
            <a:off x="-2011680" y="438912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Superstore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Insights, Risks, Opportunities &amp; Recommendations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903345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Olorunmaiye Oluwakemi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performance across the full dataset, 2011–2014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21408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$12.64M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1874520"/>
            <a:ext cx="2121408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2834640" y="22860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$1.47M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971800" y="32461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1874520"/>
            <a:ext cx="2121408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5120640" y="22860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25,035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57800" y="32461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06640" y="1874520"/>
            <a:ext cx="2121408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7406640" y="22860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11.61%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543800" y="32461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92640" y="1874520"/>
            <a:ext cx="2121408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9692640" y="22860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829800" y="32461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9120" y="4023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grew every year: $2.26M / $249K (2011) → $4.30M / $504K (2014) — growth is landing on the bottom line, not just the top line.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BI Analysis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67512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Executive Snapshot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787E9DA-3F45-C114-FCD1-56664F267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645152"/>
            <a:ext cx="11018520" cy="18836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881360" y="502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572768"/>
          </a:xfrm>
          <a:prstGeom prst="roundRect">
            <a:avLst>
              <a:gd name="adj" fmla="val 407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38074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is real — and profitable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1764792"/>
            <a:ext cx="7406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NG" sz="1250" b="1" dirty="0"/>
              <a:t>Sales and profit increased consistently between 2011 and 2014.</a:t>
            </a:r>
            <a:r>
              <a:rPr lang="en-NG" sz="1250" dirty="0"/>
              <a:t> Sales increased from </a:t>
            </a:r>
            <a:r>
              <a:rPr lang="en-NG" sz="1250" b="1" dirty="0"/>
              <a:t>$2.26M to $4.30M</a:t>
            </a:r>
            <a:r>
              <a:rPr lang="en-NG" sz="1250" dirty="0"/>
              <a:t>, while profit increased from </a:t>
            </a:r>
            <a:r>
              <a:rPr lang="en-NG" sz="1250" b="1" dirty="0"/>
              <a:t>$249K to $504K</a:t>
            </a:r>
            <a:r>
              <a:rPr lang="en-NG" sz="1250" dirty="0"/>
              <a:t>, indicating that the growth in revenue was accompanied by growth in profitability.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281160" y="1399032"/>
            <a:ext cx="0" cy="1243584"/>
          </a:xfrm>
          <a:prstGeom prst="line">
            <a:avLst/>
          </a:prstGeom>
          <a:noFill/>
          <a:ln w="12700">
            <a:solidFill>
              <a:srgbClr val="C9D3E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9464040" y="14904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464040" y="20756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2011–2014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11064240" cy="1572768"/>
          </a:xfrm>
          <a:prstGeom prst="roundRect">
            <a:avLst>
              <a:gd name="adj" fmla="val 407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822960" y="34198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822960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30632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volume and profitability MAY NOT move together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3447288"/>
            <a:ext cx="7406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NG" sz="1250" b="1" dirty="0"/>
              <a:t>Technology combines strong sales with the highest category margin.</a:t>
            </a:r>
            <a:r>
              <a:rPr lang="en-NG" sz="1250" dirty="0"/>
              <a:t> Technology generated </a:t>
            </a:r>
            <a:r>
              <a:rPr lang="en-NG" sz="1250" b="1" dirty="0"/>
              <a:t>$4.74M in sales and a 14.0% profit margin</a:t>
            </a:r>
            <a:r>
              <a:rPr lang="en-NG" sz="1250" dirty="0"/>
              <a:t>, while Furniture generated </a:t>
            </a:r>
            <a:r>
              <a:rPr lang="en-NG" sz="1250" b="1" dirty="0"/>
              <a:t>$4.11M in sales but only a 6.9% margin</a:t>
            </a:r>
            <a:r>
              <a:rPr lang="en-NG" sz="1250" dirty="0"/>
              <a:t>. This shows that high sales volume does not necessarily translate into stronger profitability.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281160" y="3081528"/>
            <a:ext cx="0" cy="1243584"/>
          </a:xfrm>
          <a:prstGeom prst="line">
            <a:avLst/>
          </a:prstGeom>
          <a:noFill/>
          <a:ln w="12700">
            <a:solidFill>
              <a:srgbClr val="C9D3E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9464040" y="31729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464040" y="37581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11064240" cy="1572768"/>
          </a:xfrm>
          <a:prstGeom prst="roundRect">
            <a:avLst>
              <a:gd name="adj" fmla="val 407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822960" y="51023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822960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91640" y="474573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discount </a:t>
            </a:r>
            <a:r>
              <a:rPr lang="en-NG" sz="1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levels are associated with weaker profitability</a:t>
            </a:r>
            <a:endParaRPr lang="en-US" sz="1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91640" y="5129784"/>
            <a:ext cx="7406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NG" sz="1250" dirty="0"/>
              <a:t>Order lines discounted above approximately </a:t>
            </a:r>
            <a:r>
              <a:rPr lang="en-NG" sz="1250" b="1" dirty="0"/>
              <a:t>20% are collectively unprofitable</a:t>
            </a:r>
            <a:r>
              <a:rPr lang="en-NG" sz="1250" dirty="0"/>
              <a:t>, while </a:t>
            </a:r>
            <a:r>
              <a:rPr lang="en-NG" sz="1250" b="1" dirty="0"/>
              <a:t>12,544 of 51,290 order lines are loss-making</a:t>
            </a:r>
            <a:r>
              <a:rPr lang="en-NG" sz="1250" dirty="0"/>
              <a:t>, representing approximately </a:t>
            </a:r>
            <a:r>
              <a:rPr lang="en-NG" sz="1250" b="1" dirty="0"/>
              <a:t>24.5% of order lines</a:t>
            </a:r>
            <a:r>
              <a:rPr lang="en-NG" sz="1250" dirty="0"/>
              <a:t> and a </a:t>
            </a:r>
            <a:r>
              <a:rPr lang="en-NG" sz="1250" b="1" dirty="0"/>
              <a:t>$921K negative contribution to total profit</a:t>
            </a:r>
            <a:r>
              <a:rPr lang="en-NG" sz="1250" dirty="0"/>
              <a:t>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281160" y="4764024"/>
            <a:ext cx="0" cy="1243584"/>
          </a:xfrm>
          <a:prstGeom prst="line">
            <a:avLst/>
          </a:prstGeom>
          <a:noFill/>
          <a:ln w="12700">
            <a:solidFill>
              <a:srgbClr val="C9D3E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9464040" y="48554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$921K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464040" y="5440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lost to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lines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BI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Key Business Insights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881360" y="502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874520"/>
          </a:xfrm>
          <a:prstGeom prst="roundRect">
            <a:avLst>
              <a:gd name="adj" fmla="val 3415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868680" y="19888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868680" y="19888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15727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is heavily concentrated by market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057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8000"/>
              </a:lnSpc>
            </a:pPr>
            <a:r>
              <a:rPr lang="en-NG" sz="1250" b="1" dirty="0"/>
              <a:t>APAC is the strongest-performing market</a:t>
            </a:r>
            <a:r>
              <a:rPr lang="en-NG" sz="1250" dirty="0"/>
              <a:t>, generating $3.59M in sales and $436K in profit, with a 12.2% profit margin. EMEA, by comparison, generated $806K in sales and $44K in profit, resulting in a 5.4% margin. This indicates significant differences in sales and profitability across markets.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418320" y="1600200"/>
            <a:ext cx="0" cy="1417320"/>
          </a:xfrm>
          <a:prstGeom prst="line">
            <a:avLst/>
          </a:prstGeom>
          <a:noFill/>
          <a:ln w="12700">
            <a:solidFill>
              <a:srgbClr val="C9D3E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9601200" y="1783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601200" y="24505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Asia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2345436"/>
          </a:xfrm>
          <a:prstGeom prst="roundRect">
            <a:avLst>
              <a:gd name="adj" fmla="val 3415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868680" y="41833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868680" y="41833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28800" y="37673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NG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Consumer is the largest revenue-generating customer segment</a:t>
            </a:r>
            <a:endParaRPr lang="en-US" sz="18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05940" y="4425696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8000"/>
              </a:lnSpc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segment alone generates $6.51M in sales and $749K in profit — more than Corporate ($3.82M / $441K) and H</a:t>
            </a:r>
            <a:r>
              <a:rPr lang="en-NG" sz="1250" dirty="0"/>
              <a:t>The Consumer segment generated </a:t>
            </a:r>
            <a:r>
              <a:rPr lang="en-NG" sz="1250" b="1" dirty="0"/>
              <a:t>$6.51M in sales and $749K in profit</a:t>
            </a:r>
            <a:r>
              <a:rPr lang="en-NG" sz="1250" dirty="0"/>
              <a:t>, compared with </a:t>
            </a:r>
            <a:r>
              <a:rPr lang="en-NG" sz="1250" b="1" dirty="0"/>
              <a:t>$3.82M in sales and $441K in profit for Corporate</a:t>
            </a:r>
            <a:r>
              <a:rPr lang="en-NG" sz="1250" dirty="0"/>
              <a:t> and </a:t>
            </a:r>
            <a:r>
              <a:rPr lang="en-NG" sz="1250" b="1" dirty="0"/>
              <a:t>$2.31M in sales and $277K in profit for Home Office</a:t>
            </a:r>
            <a:r>
              <a:rPr lang="en-NG" sz="1250" dirty="0"/>
              <a:t>. This makes Consumer the largest contributor to overall sales and profit.</a:t>
            </a:r>
            <a:r>
              <a:rPr lang="en-US" sz="1250" dirty="0" err="1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</a:t>
            </a: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Office ($2.31M / $277K) combined. Revenue looks broad-based; profit concentration says otherwise.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418320" y="3794760"/>
            <a:ext cx="0" cy="1417320"/>
          </a:xfrm>
          <a:prstGeom prst="line">
            <a:avLst/>
          </a:prstGeom>
          <a:noFill/>
          <a:ln w="12700">
            <a:solidFill>
              <a:srgbClr val="C9D3E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960120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01200" y="46451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sales from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BI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Key Business Insights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Risks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current performance is exposed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F7E7E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is a currently loss-making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990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NG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Tables sub-category generated </a:t>
            </a:r>
            <a:r>
              <a:rPr lang="en-NG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$757K in sales but a negative $64K profit</a:t>
            </a:r>
            <a:r>
              <a:rPr lang="en-NG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resulting in a </a:t>
            </a:r>
            <a:r>
              <a:rPr lang="en-NG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-8.5% margin</a:t>
            </a:r>
            <a:r>
              <a:rPr lang="en-NG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2990088" cy="0"/>
          </a:xfrm>
          <a:prstGeom prst="line">
            <a:avLst/>
          </a:prstGeom>
          <a:noFill/>
          <a:ln w="12700">
            <a:solidFill>
              <a:srgbClr val="E7C7C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548640" y="530352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−$64K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5760720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profit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88536" y="160020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F7E7E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4562856" y="1874520"/>
            <a:ext cx="502920" cy="50292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456285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62856" y="256032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NG" sz="155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 discounting presents a profitability risk</a:t>
            </a:r>
            <a:endParaRPr lang="en-US" sz="155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62856" y="3383280"/>
            <a:ext cx="2990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NG" sz="1200" dirty="0"/>
              <a:t>Profit becomes negative at higher discount levels, with order lines above approximately </a:t>
            </a:r>
            <a:r>
              <a:rPr lang="en-NG" sz="1200" b="1" dirty="0"/>
              <a:t>20% discount collectively generating negative profit</a:t>
            </a:r>
            <a:r>
              <a:rPr lang="en-NG" sz="1200" dirty="0"/>
              <a:t>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62856" y="5212080"/>
            <a:ext cx="2990088" cy="0"/>
          </a:xfrm>
          <a:prstGeom prst="line">
            <a:avLst/>
          </a:prstGeom>
          <a:noFill/>
          <a:ln w="12700">
            <a:solidFill>
              <a:srgbClr val="E7C7C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4288536" y="530352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88536" y="5760720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breakeven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level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28432" y="160020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F7E7E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8302752" y="1874520"/>
            <a:ext cx="502920" cy="50292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830275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65592" y="2560320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NG" sz="155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Low-margin regional performance creates profitability risk</a:t>
            </a:r>
            <a:endParaRPr lang="en-US" sz="155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02752" y="3383280"/>
            <a:ext cx="2990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NG" sz="1200" dirty="0"/>
              <a:t>APAC leads market-level performance, generating $3.59M in sales and $436K in profit, with a 12.2% profit margin. EMEA generated $806K in sales and $44K in profit, resulting in a 5.4% margin.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02752" y="5212080"/>
            <a:ext cx="2990088" cy="0"/>
          </a:xfrm>
          <a:prstGeom prst="line">
            <a:avLst/>
          </a:prstGeom>
          <a:noFill/>
          <a:ln w="12700">
            <a:solidFill>
              <a:srgbClr val="E7C7C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8028432" y="530352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028432" y="5760720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profit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BI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Business Risks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Opportunities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points to upside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E5F1E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carries the best margins in the portfolio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9900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NG" sz="1200" dirty="0"/>
              <a:t>Increase focus on high-margin Technology products. Technology generated $4.74M in sales with a 14.0% margin, while Copiers generated $259K profit at a 17.1% margin. Management could evaluate opportunities to increase sales of high-margin Technology products.</a:t>
            </a:r>
            <a:endParaRPr lang="en-US" sz="1200" dirty="0">
              <a:solidFill>
                <a:srgbClr val="33384A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2990088" cy="0"/>
          </a:xfrm>
          <a:prstGeom prst="line">
            <a:avLst/>
          </a:prstGeom>
          <a:noFill/>
          <a:ln w="12700">
            <a:solidFill>
              <a:srgbClr val="C3E0C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548640" y="530352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17.1%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5760720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 profit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88536" y="160020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E5F1E9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13" name="Shape 11"/>
          <p:cNvSpPr/>
          <p:nvPr/>
        </p:nvSpPr>
        <p:spPr>
          <a:xfrm>
            <a:off x="4562856" y="1874520"/>
            <a:ext cx="502920" cy="50292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456285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62856" y="256032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proven high-margin market exists to copy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62856" y="3383280"/>
            <a:ext cx="2990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combines high sales ($3.59M) with strong margin (12.2%). Whatever's working there in pricing or discount discipline is worth testing in EMEA and </a:t>
            </a:r>
            <a:r>
              <a:rPr lang="en-US" sz="120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Asia region.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62856" y="5212080"/>
            <a:ext cx="2990088" cy="0"/>
          </a:xfrm>
          <a:prstGeom prst="line">
            <a:avLst/>
          </a:prstGeom>
          <a:noFill/>
          <a:ln w="12700">
            <a:solidFill>
              <a:srgbClr val="C3E0C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4288536" y="530352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12.2%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88536" y="5760720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profit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28432" y="160020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E5F1E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8302752" y="1874520"/>
            <a:ext cx="502920" cy="50292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830275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02752" y="256032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NG" sz="1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Develop targeted strategies for high-value customers</a:t>
            </a:r>
            <a:endParaRPr lang="en-US" sz="155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02752" y="3383280"/>
            <a:ext cx="2990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NG" sz="1200" dirty="0"/>
              <a:t>The top five customers each generate approximately $35K-$40K in sales, significantly above the average order value. Management could explore personalised account management or loyalty initiatives to strengthen relationships with high-value customers.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02752" y="5212080"/>
            <a:ext cx="2990088" cy="0"/>
          </a:xfrm>
          <a:prstGeom prst="line">
            <a:avLst/>
          </a:prstGeom>
          <a:noFill/>
          <a:ln w="12700">
            <a:solidFill>
              <a:srgbClr val="C3E0C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8028432" y="530352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028432" y="5760720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BI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Business Opportunities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881360" y="502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572768"/>
          </a:xfrm>
          <a:prstGeom prst="roundRect">
            <a:avLst>
              <a:gd name="adj" fmla="val 407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36245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NG" sz="1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Introduce tighter controls for discounts above 20%</a:t>
            </a:r>
            <a:endParaRPr lang="en-US" sz="1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91640" y="1746504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NG" sz="1200" dirty="0"/>
              <a:t>Require additional review or approval for high-discount transactions and assess whether the expected sales benefit justifies the impact on profit.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2404872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 — Deep discounting is erasing profit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11064240" cy="1572768"/>
          </a:xfrm>
          <a:prstGeom prst="roundRect">
            <a:avLst>
              <a:gd name="adj" fmla="val 407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822960" y="34198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822960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30449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or de-prioritize the Tables sub-category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42900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supplier cost, adjust list pricing, or bundle Tables with higher-margin Furnishings so the bundle clears a positive margin.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691640" y="408736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 &amp; Risk 1 — Tables is the only lossmaking sub-category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11064240" cy="1572768"/>
          </a:xfrm>
          <a:prstGeom prst="roundRect">
            <a:avLst>
              <a:gd name="adj" fmla="val 407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822960" y="51023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822960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91640" y="47274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Rebalance category investment toward Technology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91640" y="5111496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 portion of Furniture's marketing and floor-space budget to Technology, particularly Copiers and Phones, where margins run roughly double Furniture's.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691640" y="5769864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 &amp; Opportunity 1 — Technology carries the best margins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BI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881360" y="502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822960" y="17145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82296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39903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margin diagnostic on Southeast Asia and EMEA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91640" y="178308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freight and discount practices in both regions before setting next year's growth targets — growing volume without fixing margin structure first just scales the problem.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235915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4 &amp; Risk 3 — weak-margin regions growing on autopilot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822960" y="33147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822960" y="33147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923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 top-customer retention program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691640" y="338328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loyalty or account-management track for top-decile customers, concentrated in the Consumer segment, which already outperforms Corporate and Home Office combined.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395935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5 &amp; Opportunity 3 — Consumer segment and top spenders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822960" y="49149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822960" y="49149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91640" y="459943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Standard Class shipping costs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691640" y="498348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runs 10.7% of total sales, and Standard Class carries the largest share of both sales and shipping spend — the single largest absolute cost-saving lever available.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555955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dashboard data — Ship Mode breakdown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BI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182880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4389120" cy="43891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real and profitable — but roughly a quarter of order lines are quietly losing money. Tightening discount discipline, fixing Tables, and doubling down on Technology and top-performing markets are the fastest paths to turning current revenue into more profit.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6309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the Global Superstore dataset — 51,290 order lines, 2011–2014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3a631d-7d37-4a93-9b26-d6c3aae3d312}" enabled="1" method="Privileged" siteId="{a05bcf50-df83-4cf8-9a6f-590abda9630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1146</Words>
  <Application>Microsoft Office PowerPoint</Application>
  <PresentationFormat>Widescreen</PresentationFormat>
  <Paragraphs>145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Oluwakemi Olorunmaiye</cp:lastModifiedBy>
  <cp:revision>2</cp:revision>
  <dcterms:created xsi:type="dcterms:W3CDTF">2026-08-16T11:43:29Z</dcterms:created>
  <dcterms:modified xsi:type="dcterms:W3CDTF">2026-08-16T15:24:26Z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Public</vt:lpwstr>
  </property>
</Properties>
</file>